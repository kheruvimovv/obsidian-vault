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3" r:id="rId10"/>
    <p:sldId id="267" r:id="rId11"/>
    <p:sldId id="268" r:id="rId12"/>
    <p:sldId id="269" r:id="rId13"/>
    <p:sldId id="270" r:id="rId14"/>
    <p:sldId id="271" r:id="rId1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DDA"/>
    <a:srgbClr val="FF71C9"/>
    <a:srgbClr val="E867AB"/>
    <a:srgbClr val="71A7FF"/>
    <a:srgbClr val="7174FF"/>
    <a:srgbClr val="B871FF"/>
    <a:srgbClr val="F171FF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7AC3CCA-C797-4891-BE02-D94E43425B78}" styleName="Средний стиль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569" autoAdjust="0"/>
    <p:restoredTop sz="94674" autoAdjust="0"/>
  </p:normalViewPr>
  <p:slideViewPr>
    <p:cSldViewPr snapToGrid="0">
      <p:cViewPr varScale="1">
        <p:scale>
          <a:sx n="119" d="100"/>
          <a:sy n="119" d="100"/>
        </p:scale>
        <p:origin x="768" y="1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83EB1-0979-4494-9D51-165DBAFE2DE4}" type="datetimeFigureOut">
              <a:rPr lang="ru-RU" smtClean="0"/>
              <a:t>26.05.2025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660AB-380A-4689-9EFD-8FE72F5AEE4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568278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83EB1-0979-4494-9D51-165DBAFE2DE4}" type="datetimeFigureOut">
              <a:rPr lang="ru-RU" smtClean="0"/>
              <a:t>26.05.2025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660AB-380A-4689-9EFD-8FE72F5AEE4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0758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83EB1-0979-4494-9D51-165DBAFE2DE4}" type="datetimeFigureOut">
              <a:rPr lang="ru-RU" smtClean="0"/>
              <a:t>26.05.2025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660AB-380A-4689-9EFD-8FE72F5AEE4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373372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83EB1-0979-4494-9D51-165DBAFE2DE4}" type="datetimeFigureOut">
              <a:rPr lang="ru-RU" smtClean="0"/>
              <a:t>26.05.2025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660AB-380A-4689-9EFD-8FE72F5AEE4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417353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83EB1-0979-4494-9D51-165DBAFE2DE4}" type="datetimeFigureOut">
              <a:rPr lang="ru-RU" smtClean="0"/>
              <a:t>26.05.2025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660AB-380A-4689-9EFD-8FE72F5AEE4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754001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83EB1-0979-4494-9D51-165DBAFE2DE4}" type="datetimeFigureOut">
              <a:rPr lang="ru-RU" smtClean="0"/>
              <a:t>26.05.2025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660AB-380A-4689-9EFD-8FE72F5AEE4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147086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83EB1-0979-4494-9D51-165DBAFE2DE4}" type="datetimeFigureOut">
              <a:rPr lang="ru-RU" smtClean="0"/>
              <a:t>26.05.2025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660AB-380A-4689-9EFD-8FE72F5AEE4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69910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83EB1-0979-4494-9D51-165DBAFE2DE4}" type="datetimeFigureOut">
              <a:rPr lang="ru-RU" smtClean="0"/>
              <a:t>26.05.2025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660AB-380A-4689-9EFD-8FE72F5AEE4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521345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83EB1-0979-4494-9D51-165DBAFE2DE4}" type="datetimeFigureOut">
              <a:rPr lang="ru-RU" smtClean="0"/>
              <a:t>26.05.2025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660AB-380A-4689-9EFD-8FE72F5AEE4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820704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83EB1-0979-4494-9D51-165DBAFE2DE4}" type="datetimeFigureOut">
              <a:rPr lang="ru-RU" smtClean="0"/>
              <a:t>26.05.2025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660AB-380A-4689-9EFD-8FE72F5AEE4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707238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83EB1-0979-4494-9D51-165DBAFE2DE4}" type="datetimeFigureOut">
              <a:rPr lang="ru-RU" smtClean="0"/>
              <a:t>26.05.2025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660AB-380A-4689-9EFD-8FE72F5AEE4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265028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E83EB1-0979-4494-9D51-165DBAFE2DE4}" type="datetimeFigureOut">
              <a:rPr lang="ru-RU" smtClean="0"/>
              <a:t>26.05.2025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0660AB-380A-4689-9EFD-8FE72F5AEE4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159485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15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176" t="6006" r="961" b="3289"/>
          <a:stretch/>
        </p:blipFill>
        <p:spPr>
          <a:xfrm>
            <a:off x="336885" y="442800"/>
            <a:ext cx="6870032" cy="6367529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3899241" y="3626565"/>
            <a:ext cx="11713464" cy="919163"/>
          </a:xfr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ru-RU" sz="5400" b="1" dirty="0">
                <a:solidFill>
                  <a:schemeClr val="tx2">
                    <a:lumMod val="50000"/>
                  </a:schemeClr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Сборка</a:t>
            </a:r>
            <a:br>
              <a:rPr lang="ru-RU" sz="5400" b="1" dirty="0">
                <a:solidFill>
                  <a:schemeClr val="tx2">
                    <a:lumMod val="50000"/>
                  </a:schemeClr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</a:br>
            <a:r>
              <a:rPr lang="en-US" sz="6600" b="1" dirty="0">
                <a:solidFill>
                  <a:schemeClr val="tx2">
                    <a:lumMod val="50000"/>
                  </a:schemeClr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Angular</a:t>
            </a:r>
            <a:r>
              <a:rPr lang="ru-RU" sz="5400" b="1" dirty="0">
                <a:solidFill>
                  <a:schemeClr val="tx2">
                    <a:lumMod val="50000"/>
                  </a:schemeClr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/>
            </a:r>
            <a:br>
              <a:rPr lang="ru-RU" sz="5400" b="1" dirty="0">
                <a:solidFill>
                  <a:schemeClr val="tx2">
                    <a:lumMod val="50000"/>
                  </a:schemeClr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</a:br>
            <a:r>
              <a:rPr lang="ru-RU" sz="5400" b="1" dirty="0">
                <a:solidFill>
                  <a:schemeClr val="tx2">
                    <a:lumMod val="50000"/>
                  </a:schemeClr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приложения</a:t>
            </a: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2863" y="4545728"/>
            <a:ext cx="1546220" cy="1546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60249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Группа 46"/>
          <p:cNvGrpSpPr/>
          <p:nvPr/>
        </p:nvGrpSpPr>
        <p:grpSpPr>
          <a:xfrm>
            <a:off x="1244953" y="1984089"/>
            <a:ext cx="9205272" cy="3492648"/>
            <a:chOff x="-233937" y="1612233"/>
            <a:chExt cx="9763932" cy="3492648"/>
          </a:xfrm>
        </p:grpSpPr>
        <p:grpSp>
          <p:nvGrpSpPr>
            <p:cNvPr id="29" name="Группа 28"/>
            <p:cNvGrpSpPr/>
            <p:nvPr/>
          </p:nvGrpSpPr>
          <p:grpSpPr>
            <a:xfrm>
              <a:off x="161798" y="1612233"/>
              <a:ext cx="9368197" cy="2011578"/>
              <a:chOff x="146938" y="2334127"/>
              <a:chExt cx="9368197" cy="2011578"/>
            </a:xfrm>
          </p:grpSpPr>
          <p:grpSp>
            <p:nvGrpSpPr>
              <p:cNvPr id="8" name="Группа 7"/>
              <p:cNvGrpSpPr/>
              <p:nvPr/>
            </p:nvGrpSpPr>
            <p:grpSpPr>
              <a:xfrm>
                <a:off x="146938" y="2334127"/>
                <a:ext cx="1347901" cy="2011578"/>
                <a:chOff x="594746" y="2399745"/>
                <a:chExt cx="1343892" cy="2257349"/>
              </a:xfrm>
            </p:grpSpPr>
            <p:sp>
              <p:nvSpPr>
                <p:cNvPr id="3" name="TextBox 2"/>
                <p:cNvSpPr txBox="1"/>
                <p:nvPr/>
              </p:nvSpPr>
              <p:spPr>
                <a:xfrm>
                  <a:off x="594746" y="2399745"/>
                  <a:ext cx="1343892" cy="217589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ru-RU" sz="12000" b="1" dirty="0">
                      <a:solidFill>
                        <a:srgbClr val="FF71C9"/>
                      </a:solidFill>
                      <a:latin typeface="Roboto Black" panose="02000000000000000000" pitchFamily="2" charset="0"/>
                      <a:ea typeface="Roboto Black" panose="02000000000000000000" pitchFamily="2" charset="0"/>
                      <a:cs typeface="Roboto Black" panose="02000000000000000000" pitchFamily="2" charset="0"/>
                    </a:rPr>
                    <a:t>1</a:t>
                  </a:r>
                </a:p>
              </p:txBody>
            </p:sp>
            <p:sp>
              <p:nvSpPr>
                <p:cNvPr id="4" name="Прямоугольный треугольник 3"/>
                <p:cNvSpPr/>
                <p:nvPr/>
              </p:nvSpPr>
              <p:spPr>
                <a:xfrm rot="16200000">
                  <a:off x="544795" y="3419193"/>
                  <a:ext cx="1287852" cy="1187949"/>
                </a:xfrm>
                <a:prstGeom prst="rtTriangle">
                  <a:avLst/>
                </a:prstGeom>
                <a:solidFill>
                  <a:srgbClr val="FFFDDA"/>
                </a:solidFill>
                <a:ln>
                  <a:noFill/>
                </a:ln>
                <a:effectLst>
                  <a:outerShdw blurRad="38100" dist="63500" dir="14100000" sx="93000" sy="93000" algn="br" rotWithShape="0">
                    <a:prstClr val="black"/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>
                    <a:solidFill>
                      <a:srgbClr val="FF00FF"/>
                    </a:solidFill>
                  </a:endParaRPr>
                </a:p>
              </p:txBody>
            </p:sp>
          </p:grpSp>
          <p:grpSp>
            <p:nvGrpSpPr>
              <p:cNvPr id="22" name="Группа 21"/>
              <p:cNvGrpSpPr/>
              <p:nvPr/>
            </p:nvGrpSpPr>
            <p:grpSpPr>
              <a:xfrm>
                <a:off x="2871572" y="2334127"/>
                <a:ext cx="1347900" cy="2011576"/>
                <a:chOff x="2871572" y="2334127"/>
                <a:chExt cx="1347900" cy="2011576"/>
              </a:xfrm>
            </p:grpSpPr>
            <p:sp>
              <p:nvSpPr>
                <p:cNvPr id="19" name="TextBox 18"/>
                <p:cNvSpPr txBox="1"/>
                <p:nvPr/>
              </p:nvSpPr>
              <p:spPr>
                <a:xfrm>
                  <a:off x="2871572" y="2334127"/>
                  <a:ext cx="1347900" cy="193899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ru-RU" sz="12000" b="1" dirty="0">
                      <a:solidFill>
                        <a:srgbClr val="F171FF"/>
                      </a:solidFill>
                      <a:latin typeface="Roboto Black" panose="02000000000000000000" pitchFamily="2" charset="0"/>
                      <a:ea typeface="Roboto Black" panose="02000000000000000000" pitchFamily="2" charset="0"/>
                      <a:cs typeface="Roboto Black" panose="02000000000000000000" pitchFamily="2" charset="0"/>
                    </a:rPr>
                    <a:t>2</a:t>
                  </a:r>
                </a:p>
              </p:txBody>
            </p:sp>
            <p:sp>
              <p:nvSpPr>
                <p:cNvPr id="21" name="Прямоугольный треугольник 20"/>
                <p:cNvSpPr/>
                <p:nvPr/>
              </p:nvSpPr>
              <p:spPr>
                <a:xfrm rot="16200000">
                  <a:off x="2893501" y="3176138"/>
                  <a:ext cx="1147636" cy="1191493"/>
                </a:xfrm>
                <a:prstGeom prst="rtTriangle">
                  <a:avLst/>
                </a:prstGeom>
                <a:solidFill>
                  <a:srgbClr val="FFFDDA"/>
                </a:solidFill>
                <a:ln>
                  <a:noFill/>
                </a:ln>
                <a:effectLst>
                  <a:outerShdw blurRad="38100" dist="63500" dir="14100000" sx="93000" sy="93000" algn="br" rotWithShape="0">
                    <a:prstClr val="black"/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>
                    <a:solidFill>
                      <a:srgbClr val="FF00FF"/>
                    </a:solidFill>
                  </a:endParaRPr>
                </a:p>
              </p:txBody>
            </p:sp>
          </p:grpSp>
          <p:grpSp>
            <p:nvGrpSpPr>
              <p:cNvPr id="24" name="Группа 23"/>
              <p:cNvGrpSpPr/>
              <p:nvPr/>
            </p:nvGrpSpPr>
            <p:grpSpPr>
              <a:xfrm>
                <a:off x="5597606" y="2334127"/>
                <a:ext cx="1347901" cy="2011575"/>
                <a:chOff x="5597606" y="2334127"/>
                <a:chExt cx="1347901" cy="2011575"/>
              </a:xfrm>
            </p:grpSpPr>
            <p:sp>
              <p:nvSpPr>
                <p:cNvPr id="13" name="TextBox 12"/>
                <p:cNvSpPr txBox="1"/>
                <p:nvPr/>
              </p:nvSpPr>
              <p:spPr>
                <a:xfrm>
                  <a:off x="5597607" y="2334127"/>
                  <a:ext cx="1347900" cy="193899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2000" b="1" dirty="0">
                      <a:solidFill>
                        <a:srgbClr val="B871FF"/>
                      </a:solidFill>
                      <a:latin typeface="Roboto Black" panose="02000000000000000000" pitchFamily="2" charset="0"/>
                      <a:ea typeface="Roboto Black" panose="02000000000000000000" pitchFamily="2" charset="0"/>
                      <a:cs typeface="Roboto Black" panose="02000000000000000000" pitchFamily="2" charset="0"/>
                    </a:rPr>
                    <a:t>3</a:t>
                  </a:r>
                  <a:endParaRPr lang="ru-RU" sz="12000" b="1" dirty="0">
                    <a:solidFill>
                      <a:srgbClr val="B871FF"/>
                    </a:solidFill>
                    <a:latin typeface="Roboto Black" panose="02000000000000000000" pitchFamily="2" charset="0"/>
                    <a:ea typeface="Roboto Black" panose="02000000000000000000" pitchFamily="2" charset="0"/>
                    <a:cs typeface="Roboto Black" panose="02000000000000000000" pitchFamily="2" charset="0"/>
                  </a:endParaRPr>
                </a:p>
              </p:txBody>
            </p:sp>
            <p:sp>
              <p:nvSpPr>
                <p:cNvPr id="23" name="Прямоугольный треугольник 22"/>
                <p:cNvSpPr/>
                <p:nvPr/>
              </p:nvSpPr>
              <p:spPr>
                <a:xfrm rot="16200000">
                  <a:off x="5619535" y="3176137"/>
                  <a:ext cx="1147636" cy="1191493"/>
                </a:xfrm>
                <a:prstGeom prst="rtTriangle">
                  <a:avLst/>
                </a:prstGeom>
                <a:solidFill>
                  <a:srgbClr val="FFFDDA"/>
                </a:solidFill>
                <a:ln>
                  <a:noFill/>
                </a:ln>
                <a:effectLst>
                  <a:outerShdw blurRad="38100" dist="63500" dir="14100000" sx="93000" sy="93000" algn="br" rotWithShape="0">
                    <a:prstClr val="black"/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>
                    <a:solidFill>
                      <a:srgbClr val="FF00FF"/>
                    </a:solidFill>
                  </a:endParaRPr>
                </a:p>
              </p:txBody>
            </p:sp>
          </p:grpSp>
          <p:grpSp>
            <p:nvGrpSpPr>
              <p:cNvPr id="27" name="Группа 26"/>
              <p:cNvGrpSpPr/>
              <p:nvPr/>
            </p:nvGrpSpPr>
            <p:grpSpPr>
              <a:xfrm>
                <a:off x="8167234" y="2334127"/>
                <a:ext cx="1347901" cy="2011576"/>
                <a:chOff x="8167234" y="2334127"/>
                <a:chExt cx="1347901" cy="2011576"/>
              </a:xfrm>
            </p:grpSpPr>
            <p:sp>
              <p:nvSpPr>
                <p:cNvPr id="16" name="TextBox 15"/>
                <p:cNvSpPr txBox="1"/>
                <p:nvPr/>
              </p:nvSpPr>
              <p:spPr>
                <a:xfrm>
                  <a:off x="8167235" y="2334127"/>
                  <a:ext cx="1347900" cy="193899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2000" b="1" dirty="0">
                      <a:solidFill>
                        <a:srgbClr val="7174FF"/>
                      </a:solidFill>
                      <a:latin typeface="Roboto Black" panose="02000000000000000000" pitchFamily="2" charset="0"/>
                      <a:ea typeface="Roboto Black" panose="02000000000000000000" pitchFamily="2" charset="0"/>
                      <a:cs typeface="Roboto Black" panose="02000000000000000000" pitchFamily="2" charset="0"/>
                    </a:rPr>
                    <a:t>4</a:t>
                  </a:r>
                  <a:endParaRPr lang="ru-RU" sz="12000" b="1" dirty="0">
                    <a:solidFill>
                      <a:srgbClr val="7174FF"/>
                    </a:solidFill>
                    <a:latin typeface="Roboto Black" panose="02000000000000000000" pitchFamily="2" charset="0"/>
                    <a:ea typeface="Roboto Black" panose="02000000000000000000" pitchFamily="2" charset="0"/>
                    <a:cs typeface="Roboto Black" panose="02000000000000000000" pitchFamily="2" charset="0"/>
                  </a:endParaRPr>
                </a:p>
              </p:txBody>
            </p:sp>
            <p:sp>
              <p:nvSpPr>
                <p:cNvPr id="25" name="Прямоугольный треугольник 24"/>
                <p:cNvSpPr/>
                <p:nvPr/>
              </p:nvSpPr>
              <p:spPr>
                <a:xfrm rot="16200000">
                  <a:off x="8189163" y="3176138"/>
                  <a:ext cx="1147636" cy="1191493"/>
                </a:xfrm>
                <a:prstGeom prst="rtTriangle">
                  <a:avLst/>
                </a:prstGeom>
                <a:solidFill>
                  <a:srgbClr val="FFFDDA"/>
                </a:solidFill>
                <a:ln>
                  <a:noFill/>
                </a:ln>
                <a:effectLst>
                  <a:outerShdw blurRad="38100" dist="63500" dir="14100000" sx="93000" sy="93000" algn="br" rotWithShape="0">
                    <a:prstClr val="black"/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>
                    <a:solidFill>
                      <a:srgbClr val="FF00FF"/>
                    </a:solidFill>
                  </a:endParaRPr>
                </a:p>
              </p:txBody>
            </p:sp>
          </p:grpSp>
        </p:grpSp>
        <p:pic>
          <p:nvPicPr>
            <p:cNvPr id="31" name="Рисунок 30"/>
            <p:cNvPicPr>
              <a:picLocks noChangeAspect="1"/>
            </p:cNvPicPr>
            <p:nvPr/>
          </p:nvPicPr>
          <p:blipFill>
            <a:blip r:embed="rId2">
              <a:duotone>
                <a:prstClr val="black"/>
                <a:srgbClr val="FF71C9">
                  <a:tint val="45000"/>
                  <a:satMod val="400000"/>
                </a:srgbClr>
              </a:duotone>
            </a:blip>
            <a:stretch>
              <a:fillRect/>
            </a:stretch>
          </p:blipFill>
          <p:spPr>
            <a:xfrm>
              <a:off x="804493" y="3080084"/>
              <a:ext cx="543724" cy="543724"/>
            </a:xfrm>
            <a:prstGeom prst="rect">
              <a:avLst/>
            </a:prstGeom>
          </p:spPr>
        </p:pic>
        <p:pic>
          <p:nvPicPr>
            <p:cNvPr id="34" name="Рисунок 33"/>
            <p:cNvPicPr>
              <a:picLocks noChangeAspect="1"/>
            </p:cNvPicPr>
            <p:nvPr/>
          </p:nvPicPr>
          <p:blipFill rotWithShape="1">
            <a:blip r:embed="rId3"/>
            <a:srcRect l="6953" t="2433" r="5364" b="1020"/>
            <a:stretch/>
          </p:blipFill>
          <p:spPr>
            <a:xfrm>
              <a:off x="6304088" y="3077838"/>
              <a:ext cx="499872" cy="543694"/>
            </a:xfrm>
            <a:prstGeom prst="rect">
              <a:avLst/>
            </a:prstGeom>
          </p:spPr>
        </p:pic>
        <p:pic>
          <p:nvPicPr>
            <p:cNvPr id="37" name="Рисунок 36"/>
            <p:cNvPicPr>
              <a:picLocks noChangeAspect="1"/>
            </p:cNvPicPr>
            <p:nvPr/>
          </p:nvPicPr>
          <p:blipFill rotWithShape="1">
            <a:blip r:embed="rId4"/>
            <a:srcRect l="20634" r="20505"/>
            <a:stretch/>
          </p:blipFill>
          <p:spPr>
            <a:xfrm>
              <a:off x="9053548" y="3077823"/>
              <a:ext cx="320040" cy="543724"/>
            </a:xfrm>
            <a:prstGeom prst="rect">
              <a:avLst/>
            </a:prstGeom>
          </p:spPr>
        </p:pic>
        <p:pic>
          <p:nvPicPr>
            <p:cNvPr id="40" name="Рисунок 39"/>
            <p:cNvPicPr>
              <a:picLocks noChangeAspect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2284" t="10641" r="12746" b="10339"/>
            <a:stretch/>
          </p:blipFill>
          <p:spPr>
            <a:xfrm>
              <a:off x="3557106" y="3076376"/>
              <a:ext cx="518586" cy="546618"/>
            </a:xfrm>
            <a:prstGeom prst="rect">
              <a:avLst/>
            </a:prstGeom>
          </p:spPr>
        </p:pic>
        <p:sp>
          <p:nvSpPr>
            <p:cNvPr id="41" name="TextBox 40"/>
            <p:cNvSpPr txBox="1"/>
            <p:nvPr/>
          </p:nvSpPr>
          <p:spPr>
            <a:xfrm>
              <a:off x="-233937" y="3904552"/>
              <a:ext cx="1982966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2100" dirty="0">
                  <a:solidFill>
                    <a:schemeClr val="bg2">
                      <a:lumMod val="50000"/>
                    </a:schemeClr>
                  </a:solidFill>
                  <a:latin typeface="Roboto Black" panose="02000000000000000000" pitchFamily="2" charset="0"/>
                  <a:ea typeface="Roboto Black" panose="02000000000000000000" pitchFamily="2" charset="0"/>
                  <a:cs typeface="Roboto Black" panose="02000000000000000000" pitchFamily="2" charset="0"/>
                </a:rPr>
                <a:t>Зачем что-то собирать?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2498778" y="3851721"/>
              <a:ext cx="198296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ru-RU" sz="2400" dirty="0">
                <a:solidFill>
                  <a:schemeClr val="bg2">
                    <a:lumMod val="50000"/>
                  </a:schemeClr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endParaRP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5216730" y="4043051"/>
              <a:ext cx="198296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 err="1">
                  <a:solidFill>
                    <a:schemeClr val="bg2">
                      <a:lumMod val="50000"/>
                    </a:schemeClr>
                  </a:solidFill>
                  <a:latin typeface="Roboto Black" panose="02000000000000000000" pitchFamily="2" charset="0"/>
                  <a:ea typeface="Roboto Black" panose="02000000000000000000" pitchFamily="2" charset="0"/>
                  <a:cs typeface="Roboto Black" panose="02000000000000000000" pitchFamily="2" charset="0"/>
                </a:rPr>
                <a:t>Webpack</a:t>
              </a:r>
              <a:endParaRPr lang="ru-RU" sz="2400" dirty="0">
                <a:solidFill>
                  <a:schemeClr val="bg2">
                    <a:lumMod val="50000"/>
                  </a:schemeClr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endParaRP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2484015" y="3904552"/>
              <a:ext cx="1982966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solidFill>
                    <a:schemeClr val="bg2">
                      <a:lumMod val="50000"/>
                    </a:schemeClr>
                  </a:solidFill>
                  <a:latin typeface="Roboto Black" panose="02000000000000000000" pitchFamily="2" charset="0"/>
                  <a:ea typeface="Roboto Black" panose="02000000000000000000" pitchFamily="2" charset="0"/>
                  <a:cs typeface="Roboto Black" panose="02000000000000000000" pitchFamily="2" charset="0"/>
                </a:rPr>
                <a:t>Angular CLI builders</a:t>
              </a:r>
              <a:endParaRPr lang="ru-RU" sz="2400" dirty="0">
                <a:solidFill>
                  <a:schemeClr val="bg2">
                    <a:lumMod val="50000"/>
                  </a:schemeClr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endParaRPr>
            </a:p>
            <a:p>
              <a:pPr algn="ctr"/>
              <a:endParaRPr lang="ru-RU" sz="2400" dirty="0">
                <a:solidFill>
                  <a:schemeClr val="bg2">
                    <a:lumMod val="50000"/>
                  </a:schemeClr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endParaRPr>
            </a:p>
          </p:txBody>
        </p:sp>
      </p:grpSp>
      <p:sp>
        <p:nvSpPr>
          <p:cNvPr id="48" name="TextBox 47"/>
          <p:cNvSpPr txBox="1"/>
          <p:nvPr/>
        </p:nvSpPr>
        <p:spPr>
          <a:xfrm>
            <a:off x="0" y="642553"/>
            <a:ext cx="12192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400" b="1" dirty="0">
                <a:solidFill>
                  <a:schemeClr val="tx2">
                    <a:lumMod val="50000"/>
                  </a:schemeClr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План лекции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9274465" y="4414907"/>
            <a:ext cx="108074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dirty="0">
                <a:solidFill>
                  <a:schemeClr val="bg2">
                    <a:lumMod val="50000"/>
                  </a:schemeClr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Vite.js</a:t>
            </a:r>
            <a:endParaRPr lang="ru-RU" sz="2400" dirty="0">
              <a:solidFill>
                <a:schemeClr val="bg2">
                  <a:lumMod val="50000"/>
                </a:schemeClr>
              </a:solidFill>
              <a:latin typeface="Roboto Black" panose="02000000000000000000" pitchFamily="2" charset="0"/>
              <a:ea typeface="Roboto Black" panose="02000000000000000000" pitchFamily="2" charset="0"/>
              <a:cs typeface="Roboto Black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31289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521129" y="546301"/>
            <a:ext cx="1075033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400" b="1" dirty="0">
                <a:solidFill>
                  <a:schemeClr val="bg2">
                    <a:lumMod val="25000"/>
                  </a:schemeClr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Браузер – не компилятор</a:t>
            </a:r>
          </a:p>
        </p:txBody>
      </p:sp>
      <p:grpSp>
        <p:nvGrpSpPr>
          <p:cNvPr id="21" name="Группа 20"/>
          <p:cNvGrpSpPr/>
          <p:nvPr/>
        </p:nvGrpSpPr>
        <p:grpSpPr>
          <a:xfrm>
            <a:off x="1736681" y="1978268"/>
            <a:ext cx="3203910" cy="4305300"/>
            <a:chOff x="1147512" y="2083469"/>
            <a:chExt cx="3203910" cy="4305300"/>
          </a:xfrm>
        </p:grpSpPr>
        <p:grpSp>
          <p:nvGrpSpPr>
            <p:cNvPr id="18" name="Группа 17"/>
            <p:cNvGrpSpPr/>
            <p:nvPr/>
          </p:nvGrpSpPr>
          <p:grpSpPr>
            <a:xfrm>
              <a:off x="1147512" y="2083469"/>
              <a:ext cx="3203910" cy="3080084"/>
              <a:chOff x="594059" y="2757237"/>
              <a:chExt cx="3203910" cy="3080084"/>
            </a:xfrm>
          </p:grpSpPr>
          <p:sp>
            <p:nvSpPr>
              <p:cNvPr id="15" name="Овал 14"/>
              <p:cNvSpPr/>
              <p:nvPr/>
            </p:nvSpPr>
            <p:spPr>
              <a:xfrm>
                <a:off x="594059" y="2757237"/>
                <a:ext cx="3203910" cy="3080084"/>
              </a:xfrm>
              <a:prstGeom prst="ellipse">
                <a:avLst/>
              </a:prstGeom>
              <a:noFill/>
              <a:ln w="571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pic>
            <p:nvPicPr>
              <p:cNvPr id="13" name="Рисунок 12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719011" y="4513846"/>
                <a:ext cx="1034715" cy="1034715"/>
              </a:xfrm>
              <a:prstGeom prst="rect">
                <a:avLst/>
              </a:prstGeom>
            </p:spPr>
          </p:pic>
        </p:grpSp>
        <p:pic>
          <p:nvPicPr>
            <p:cNvPr id="19" name="Рисунок 1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332621" y="5474369"/>
              <a:ext cx="914400" cy="914400"/>
            </a:xfrm>
            <a:prstGeom prst="rect">
              <a:avLst/>
            </a:prstGeom>
          </p:spPr>
        </p:pic>
      </p:grpSp>
      <p:grpSp>
        <p:nvGrpSpPr>
          <p:cNvPr id="23" name="Группа 22"/>
          <p:cNvGrpSpPr/>
          <p:nvPr/>
        </p:nvGrpSpPr>
        <p:grpSpPr>
          <a:xfrm>
            <a:off x="7108907" y="1978268"/>
            <a:ext cx="3203910" cy="4251159"/>
            <a:chOff x="7120939" y="2083469"/>
            <a:chExt cx="3203910" cy="4251159"/>
          </a:xfrm>
        </p:grpSpPr>
        <p:grpSp>
          <p:nvGrpSpPr>
            <p:cNvPr id="16" name="Группа 15"/>
            <p:cNvGrpSpPr/>
            <p:nvPr/>
          </p:nvGrpSpPr>
          <p:grpSpPr>
            <a:xfrm>
              <a:off x="7120939" y="2083469"/>
              <a:ext cx="3203910" cy="3080084"/>
              <a:chOff x="7301412" y="2644942"/>
              <a:chExt cx="3203910" cy="3080084"/>
            </a:xfrm>
          </p:grpSpPr>
          <p:grpSp>
            <p:nvGrpSpPr>
              <p:cNvPr id="12" name="Группа 11"/>
              <p:cNvGrpSpPr/>
              <p:nvPr/>
            </p:nvGrpSpPr>
            <p:grpSpPr>
              <a:xfrm>
                <a:off x="7713531" y="3201692"/>
                <a:ext cx="2494264" cy="2202491"/>
                <a:chOff x="8363236" y="4186277"/>
                <a:chExt cx="2494264" cy="2202491"/>
              </a:xfrm>
            </p:grpSpPr>
            <p:pic>
              <p:nvPicPr>
                <p:cNvPr id="9" name="Рисунок 8"/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9107903" y="5498431"/>
                  <a:ext cx="890337" cy="890337"/>
                </a:xfrm>
                <a:prstGeom prst="rect">
                  <a:avLst/>
                </a:prstGeom>
              </p:spPr>
            </p:pic>
            <p:pic>
              <p:nvPicPr>
                <p:cNvPr id="10" name="Рисунок 9"/>
                <p:cNvPicPr>
                  <a:picLocks noChangeAspect="1"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8363236" y="4186277"/>
                  <a:ext cx="1189836" cy="1189836"/>
                </a:xfrm>
                <a:prstGeom prst="rect">
                  <a:avLst/>
                </a:prstGeom>
              </p:spPr>
            </p:pic>
            <p:pic>
              <p:nvPicPr>
                <p:cNvPr id="11" name="Рисунок 10"/>
                <p:cNvPicPr>
                  <a:picLocks noChangeAspect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9673389" y="4192002"/>
                  <a:ext cx="1184111" cy="1184111"/>
                </a:xfrm>
                <a:prstGeom prst="rect">
                  <a:avLst/>
                </a:prstGeom>
              </p:spPr>
            </p:pic>
          </p:grpSp>
          <p:sp>
            <p:nvSpPr>
              <p:cNvPr id="17" name="Овал 16"/>
              <p:cNvSpPr/>
              <p:nvPr/>
            </p:nvSpPr>
            <p:spPr>
              <a:xfrm>
                <a:off x="7301412" y="2644942"/>
                <a:ext cx="3203910" cy="3080084"/>
              </a:xfrm>
              <a:prstGeom prst="ellipse">
                <a:avLst/>
              </a:prstGeom>
              <a:noFill/>
              <a:ln w="571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  <p:pic>
          <p:nvPicPr>
            <p:cNvPr id="20" name="Рисунок 19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8307803" y="5474369"/>
              <a:ext cx="860259" cy="860259"/>
            </a:xfrm>
            <a:prstGeom prst="rect">
              <a:avLst/>
            </a:prstGeom>
          </p:spPr>
        </p:pic>
        <p:pic>
          <p:nvPicPr>
            <p:cNvPr id="22" name="Рисунок 21"/>
            <p:cNvPicPr>
              <a:picLocks noChangeAspect="1"/>
            </p:cNvPicPr>
            <p:nvPr/>
          </p:nvPicPr>
          <p:blipFill rotWithShape="1">
            <a:blip r:embed="rId7"/>
            <a:srcRect l="29048" t="36510" r="28770" b="20599"/>
            <a:stretch/>
          </p:blipFill>
          <p:spPr>
            <a:xfrm>
              <a:off x="8493138" y="5720303"/>
              <a:ext cx="490842" cy="499094"/>
            </a:xfrm>
            <a:prstGeom prst="rect">
              <a:avLst/>
            </a:prstGeom>
          </p:spPr>
        </p:pic>
      </p:grpSp>
      <p:sp>
        <p:nvSpPr>
          <p:cNvPr id="24" name="AutoShape 4" descr="Examples of the logo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25" name="Рисунок 24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1278" y="2502638"/>
            <a:ext cx="900976" cy="900976"/>
          </a:xfrm>
          <a:prstGeom prst="rect">
            <a:avLst/>
          </a:prstGeom>
        </p:spPr>
      </p:pic>
      <p:pic>
        <p:nvPicPr>
          <p:cNvPr id="2054" name="Picture 6" descr="File:Sass Logo Color.svg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9783" y="2502638"/>
            <a:ext cx="1201301" cy="9009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586108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AutoShape 4" descr="Examples of the logo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8" name="TextBox 7"/>
          <p:cNvSpPr txBox="1"/>
          <p:nvPr/>
        </p:nvSpPr>
        <p:spPr>
          <a:xfrm>
            <a:off x="6915359" y="1978152"/>
            <a:ext cx="48006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285750">
              <a:buFont typeface="Arial" panose="020B0604020202020204" pitchFamily="34" charset="0"/>
              <a:buChar char="•"/>
            </a:pPr>
            <a:r>
              <a:rPr lang="ru-RU" sz="2100" dirty="0">
                <a:solidFill>
                  <a:schemeClr val="bg2">
                    <a:lumMod val="25000"/>
                  </a:schemeClr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Много </a:t>
            </a:r>
            <a:r>
              <a:rPr lang="en-US" sz="2100" dirty="0">
                <a:solidFill>
                  <a:schemeClr val="bg2">
                    <a:lumMod val="25000"/>
                  </a:schemeClr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http </a:t>
            </a:r>
            <a:r>
              <a:rPr lang="ru-RU" sz="2100" dirty="0">
                <a:solidFill>
                  <a:schemeClr val="bg2">
                    <a:lumMod val="25000"/>
                  </a:schemeClr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запросов</a:t>
            </a:r>
          </a:p>
        </p:txBody>
      </p:sp>
      <p:pic>
        <p:nvPicPr>
          <p:cNvPr id="14" name="Рисунок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5442" y="526473"/>
            <a:ext cx="5704343" cy="588260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15359" y="2614334"/>
            <a:ext cx="48006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285750">
              <a:buFont typeface="Arial" panose="020B0604020202020204" pitchFamily="34" charset="0"/>
              <a:buChar char="•"/>
            </a:pPr>
            <a:r>
              <a:rPr lang="ru-RU" sz="2100" dirty="0">
                <a:solidFill>
                  <a:schemeClr val="bg2">
                    <a:lumMod val="25000"/>
                  </a:schemeClr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Нужно контролировать порядок скриптов</a:t>
            </a:r>
            <a:endParaRPr lang="ru-RU" dirty="0">
              <a:latin typeface="Roboto Black" panose="02000000000000000000" pitchFamily="2" charset="0"/>
              <a:ea typeface="Roboto Black" panose="02000000000000000000" pitchFamily="2" charset="0"/>
              <a:cs typeface="Roboto Black" panose="02000000000000000000" pitchFamily="2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915359" y="4102238"/>
            <a:ext cx="48006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285750">
              <a:buFont typeface="Arial" panose="020B0604020202020204" pitchFamily="34" charset="0"/>
              <a:buChar char="•"/>
            </a:pPr>
            <a:r>
              <a:rPr lang="ru-RU" sz="2100" dirty="0" err="1">
                <a:solidFill>
                  <a:schemeClr val="bg2">
                    <a:lumMod val="25000"/>
                  </a:schemeClr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Ассеты</a:t>
            </a:r>
            <a:r>
              <a:rPr lang="ru-RU" sz="2100" dirty="0">
                <a:solidFill>
                  <a:schemeClr val="bg2">
                    <a:lumMod val="25000"/>
                  </a:schemeClr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 нужно переносить отдельно</a:t>
            </a:r>
            <a:endParaRPr lang="ru-RU" dirty="0">
              <a:latin typeface="Roboto Black" panose="02000000000000000000" pitchFamily="2" charset="0"/>
              <a:ea typeface="Roboto Black" panose="02000000000000000000" pitchFamily="2" charset="0"/>
              <a:cs typeface="Roboto Black" panose="02000000000000000000" pitchFamily="2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915359" y="3551204"/>
            <a:ext cx="4800600" cy="6924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285750">
              <a:buFont typeface="Arial" panose="020B0604020202020204" pitchFamily="34" charset="0"/>
              <a:buChar char="•"/>
            </a:pPr>
            <a:r>
              <a:rPr lang="ru-RU" sz="2100" dirty="0">
                <a:solidFill>
                  <a:schemeClr val="bg2">
                    <a:lumMod val="25000"/>
                  </a:schemeClr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Нет оптимизации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dirty="0">
              <a:latin typeface="Roboto Black" panose="02000000000000000000" pitchFamily="2" charset="0"/>
              <a:ea typeface="Roboto Black" panose="02000000000000000000" pitchFamily="2" charset="0"/>
              <a:cs typeface="Roboto Black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06848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5" grpId="0"/>
      <p:bldP spid="6" grpId="0"/>
      <p:bldP spid="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AutoShape 4" descr="Examples of the logo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8" name="TextBox 7"/>
          <p:cNvSpPr txBox="1"/>
          <p:nvPr/>
        </p:nvSpPr>
        <p:spPr>
          <a:xfrm>
            <a:off x="2743200" y="361228"/>
            <a:ext cx="813261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4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Современные </a:t>
            </a:r>
            <a:r>
              <a:rPr lang="ru-RU" sz="4400" dirty="0" err="1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бандлеры</a:t>
            </a:r>
            <a:endParaRPr lang="ru-RU" sz="4400" dirty="0">
              <a:latin typeface="Roboto Black" panose="02000000000000000000" pitchFamily="2" charset="0"/>
              <a:ea typeface="Roboto Black" panose="02000000000000000000" pitchFamily="2" charset="0"/>
              <a:cs typeface="Roboto Black" panose="02000000000000000000" pitchFamily="2" charset="0"/>
            </a:endParaRPr>
          </a:p>
        </p:txBody>
      </p:sp>
      <p:pic>
        <p:nvPicPr>
          <p:cNvPr id="1026" name="Picture 2" descr="icon example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75" y="1524000"/>
            <a:ext cx="1711325" cy="1936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839787" y="3461193"/>
            <a:ext cx="13335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dirty="0" err="1">
                <a:solidFill>
                  <a:schemeClr val="bg2">
                    <a:lumMod val="50000"/>
                  </a:schemeClr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Webpack</a:t>
            </a:r>
            <a:endParaRPr lang="ru-RU" sz="2100" dirty="0">
              <a:solidFill>
                <a:schemeClr val="bg2">
                  <a:lumMod val="50000"/>
                </a:schemeClr>
              </a:solidFill>
              <a:latin typeface="Roboto Black" panose="02000000000000000000" pitchFamily="2" charset="0"/>
              <a:ea typeface="Roboto Black" panose="02000000000000000000" pitchFamily="2" charset="0"/>
              <a:cs typeface="Roboto Black" panose="02000000000000000000" pitchFamily="2" charset="0"/>
            </a:endParaRP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9701" y="1524000"/>
            <a:ext cx="1936500" cy="19365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771670" y="3460500"/>
            <a:ext cx="105156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dirty="0">
                <a:solidFill>
                  <a:schemeClr val="bg2">
                    <a:lumMod val="50000"/>
                  </a:schemeClr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Rollup</a:t>
            </a: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2190" y="1524000"/>
            <a:ext cx="1936500" cy="19365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565140" y="3460500"/>
            <a:ext cx="9906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dirty="0">
                <a:solidFill>
                  <a:schemeClr val="bg2">
                    <a:lumMod val="50000"/>
                  </a:schemeClr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Vite.js</a:t>
            </a:r>
          </a:p>
        </p:txBody>
      </p:sp>
      <p:pic>
        <p:nvPicPr>
          <p:cNvPr id="1032" name="Picture 8" descr="Parcel"/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3188"/>
          <a:stretch/>
        </p:blipFill>
        <p:spPr bwMode="auto">
          <a:xfrm>
            <a:off x="8934679" y="1524000"/>
            <a:ext cx="2621175" cy="1936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/>
          <p:cNvSpPr txBox="1"/>
          <p:nvPr/>
        </p:nvSpPr>
        <p:spPr>
          <a:xfrm>
            <a:off x="9749966" y="3460500"/>
            <a:ext cx="9906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dirty="0">
                <a:solidFill>
                  <a:schemeClr val="bg2">
                    <a:lumMod val="50000"/>
                  </a:schemeClr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Parcel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7652" y="6260897"/>
            <a:ext cx="1125575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dirty="0" err="1">
                <a:solidFill>
                  <a:schemeClr val="bg2">
                    <a:lumMod val="50000"/>
                  </a:schemeClr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ESbuild</a:t>
            </a:r>
            <a:endParaRPr lang="en-US" sz="2100" dirty="0">
              <a:solidFill>
                <a:schemeClr val="bg2">
                  <a:lumMod val="50000"/>
                </a:schemeClr>
              </a:solidFill>
              <a:latin typeface="Roboto Black" panose="02000000000000000000" pitchFamily="2" charset="0"/>
              <a:ea typeface="Roboto Black" panose="02000000000000000000" pitchFamily="2" charset="0"/>
              <a:cs typeface="Roboto Black" panose="02000000000000000000" pitchFamily="2" charset="0"/>
            </a:endParaRPr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333" y="4213453"/>
            <a:ext cx="2492867" cy="19365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914345" y="6260897"/>
            <a:ext cx="1164841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dirty="0" err="1">
                <a:solidFill>
                  <a:schemeClr val="bg2">
                    <a:lumMod val="50000"/>
                  </a:schemeClr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Rspack</a:t>
            </a:r>
            <a:endParaRPr lang="en-US" sz="2100" dirty="0">
              <a:solidFill>
                <a:schemeClr val="bg2">
                  <a:lumMod val="50000"/>
                </a:schemeClr>
              </a:solidFill>
              <a:latin typeface="Roboto Black" panose="02000000000000000000" pitchFamily="2" charset="0"/>
              <a:ea typeface="Roboto Black" panose="02000000000000000000" pitchFamily="2" charset="0"/>
              <a:cs typeface="Roboto Black" panose="02000000000000000000" pitchFamily="2" charset="0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2190" y="4201430"/>
            <a:ext cx="1936500" cy="1936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1551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AutoShape 4" descr="Examples of the logo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8" name="TextBox 7"/>
          <p:cNvSpPr txBox="1"/>
          <p:nvPr/>
        </p:nvSpPr>
        <p:spPr>
          <a:xfrm>
            <a:off x="0" y="171207"/>
            <a:ext cx="12192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Angular CLI builders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1544"/>
          <a:stretch/>
        </p:blipFill>
        <p:spPr>
          <a:xfrm>
            <a:off x="250063" y="1156830"/>
            <a:ext cx="6230472" cy="552438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6476" y="1302440"/>
            <a:ext cx="38023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Конфигурация для 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targets</a:t>
            </a:r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задается в файле </a:t>
            </a:r>
            <a:r>
              <a:rPr lang="en-US" b="1" i="1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angular.json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. </a:t>
            </a:r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Секция </a:t>
            </a:r>
            <a:r>
              <a:rPr lang="en-US" b="1" i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architect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6476" y="3942106"/>
            <a:ext cx="38023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Angular CLI builder – </a:t>
            </a:r>
            <a:r>
              <a:rPr lang="en-US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npm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-</a:t>
            </a:r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пакет, реализованный по структуре, понятной </a:t>
            </a:r>
            <a:r>
              <a:rPr lang="en-US" b="1" i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Angular Architect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.</a:t>
            </a:r>
          </a:p>
        </p:txBody>
      </p:sp>
      <p:grpSp>
        <p:nvGrpSpPr>
          <p:cNvPr id="7" name="Группа 6"/>
          <p:cNvGrpSpPr/>
          <p:nvPr/>
        </p:nvGrpSpPr>
        <p:grpSpPr>
          <a:xfrm>
            <a:off x="6856476" y="5001286"/>
            <a:ext cx="4560313" cy="1679929"/>
            <a:chOff x="688343" y="1755621"/>
            <a:chExt cx="4560313" cy="1679929"/>
          </a:xfrm>
        </p:grpSpPr>
        <p:pic>
          <p:nvPicPr>
            <p:cNvPr id="9" name="Рисунок 8"/>
            <p:cNvPicPr>
              <a:picLocks noChangeAspect="1"/>
            </p:cNvPicPr>
            <p:nvPr/>
          </p:nvPicPr>
          <p:blipFill rotWithShape="1">
            <a:blip r:embed="rId3"/>
            <a:srcRect l="1" r="33054" b="59312"/>
            <a:stretch/>
          </p:blipFill>
          <p:spPr>
            <a:xfrm>
              <a:off x="688343" y="1755621"/>
              <a:ext cx="4560313" cy="865659"/>
            </a:xfrm>
            <a:prstGeom prst="rect">
              <a:avLst/>
            </a:prstGeom>
          </p:spPr>
        </p:pic>
        <p:pic>
          <p:nvPicPr>
            <p:cNvPr id="10" name="Рисунок 9"/>
            <p:cNvPicPr>
              <a:picLocks noChangeAspect="1"/>
            </p:cNvPicPr>
            <p:nvPr/>
          </p:nvPicPr>
          <p:blipFill rotWithShape="1">
            <a:blip r:embed="rId4"/>
            <a:srcRect t="13023" r="9343"/>
            <a:stretch/>
          </p:blipFill>
          <p:spPr>
            <a:xfrm>
              <a:off x="688343" y="2621280"/>
              <a:ext cx="4554217" cy="814270"/>
            </a:xfrm>
            <a:prstGeom prst="rect">
              <a:avLst/>
            </a:prstGeom>
          </p:spPr>
        </p:pic>
      </p:grpSp>
      <p:sp>
        <p:nvSpPr>
          <p:cNvPr id="11" name="TextBox 10"/>
          <p:cNvSpPr txBox="1"/>
          <p:nvPr/>
        </p:nvSpPr>
        <p:spPr>
          <a:xfrm>
            <a:off x="6856476" y="2440250"/>
            <a:ext cx="380238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build, serve, test, lint 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– default targets.</a:t>
            </a:r>
            <a:b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</a:b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/>
            </a:r>
            <a:b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</a:br>
            <a:r>
              <a:rPr lang="en-US" b="1" i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ng run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b="1" i="1" dirty="0" err="1"/>
              <a:t>project:target</a:t>
            </a:r>
            <a:r>
              <a:rPr lang="en-US" b="1" i="1" dirty="0"/>
              <a:t>[:configuration]</a:t>
            </a:r>
            <a:endParaRPr lang="en-US" b="1" i="1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pic>
        <p:nvPicPr>
          <p:cNvPr id="12" name="Рисунок 1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063" y="244054"/>
            <a:ext cx="623746" cy="623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4437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1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AutoShape 4" descr="Examples of the logo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8" name="TextBox 7"/>
          <p:cNvSpPr txBox="1"/>
          <p:nvPr/>
        </p:nvSpPr>
        <p:spPr>
          <a:xfrm>
            <a:off x="0" y="171206"/>
            <a:ext cx="12192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Angular CLI builders</a:t>
            </a: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6355449"/>
              </p:ext>
            </p:extLst>
          </p:nvPr>
        </p:nvGraphicFramePr>
        <p:xfrm>
          <a:off x="377189" y="1619626"/>
          <a:ext cx="11437621" cy="4097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43051">
                  <a:extLst>
                    <a:ext uri="{9D8B030D-6E8A-4147-A177-3AD203B41FA5}">
                      <a16:colId xmlns:a16="http://schemas.microsoft.com/office/drawing/2014/main" val="1366757412"/>
                    </a:ext>
                  </a:extLst>
                </a:gridCol>
                <a:gridCol w="4587240">
                  <a:extLst>
                    <a:ext uri="{9D8B030D-6E8A-4147-A177-3AD203B41FA5}">
                      <a16:colId xmlns:a16="http://schemas.microsoft.com/office/drawing/2014/main" val="3389189387"/>
                    </a:ext>
                  </a:extLst>
                </a:gridCol>
                <a:gridCol w="5307330">
                  <a:extLst>
                    <a:ext uri="{9D8B030D-6E8A-4147-A177-3AD203B41FA5}">
                      <a16:colId xmlns:a16="http://schemas.microsoft.com/office/drawing/2014/main" val="3894746259"/>
                    </a:ext>
                  </a:extLst>
                </a:gridCol>
              </a:tblGrid>
              <a:tr h="441827">
                <a:tc>
                  <a:txBody>
                    <a:bodyPr/>
                    <a:lstStyle/>
                    <a:p>
                      <a:pPr algn="ctr"/>
                      <a:endParaRPr lang="ru-RU" dirty="0">
                        <a:latin typeface="Roboto Black" panose="02000000000000000000" pitchFamily="2" charset="0"/>
                        <a:ea typeface="Roboto Black" panose="02000000000000000000" pitchFamily="2" charset="0"/>
                        <a:cs typeface="Roboto Black" panose="020000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Roboto Black" panose="02000000000000000000" pitchFamily="2" charset="0"/>
                          <a:ea typeface="Roboto Black" panose="02000000000000000000" pitchFamily="2" charset="0"/>
                          <a:cs typeface="Roboto Black" panose="02000000000000000000" pitchFamily="2" charset="0"/>
                        </a:rPr>
                        <a:t>Version &lt;</a:t>
                      </a:r>
                      <a:r>
                        <a:rPr lang="en-US" baseline="0" dirty="0">
                          <a:latin typeface="Roboto Black" panose="02000000000000000000" pitchFamily="2" charset="0"/>
                          <a:ea typeface="Roboto Black" panose="02000000000000000000" pitchFamily="2" charset="0"/>
                          <a:cs typeface="Roboto Black" panose="02000000000000000000" pitchFamily="2" charset="0"/>
                        </a:rPr>
                        <a:t> 17</a:t>
                      </a:r>
                      <a:endParaRPr lang="ru-RU" dirty="0">
                        <a:latin typeface="Roboto Black" panose="02000000000000000000" pitchFamily="2" charset="0"/>
                        <a:ea typeface="Roboto Black" panose="02000000000000000000" pitchFamily="2" charset="0"/>
                        <a:cs typeface="Roboto Black" panose="020000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Roboto Black" panose="02000000000000000000" pitchFamily="2" charset="0"/>
                          <a:ea typeface="Roboto Black" panose="02000000000000000000" pitchFamily="2" charset="0"/>
                          <a:cs typeface="Roboto Black" panose="02000000000000000000" pitchFamily="2" charset="0"/>
                        </a:rPr>
                        <a:t>Version &gt;= 17</a:t>
                      </a:r>
                      <a:endParaRPr lang="ru-RU" dirty="0">
                        <a:latin typeface="Roboto Black" panose="02000000000000000000" pitchFamily="2" charset="0"/>
                        <a:ea typeface="Roboto Black" panose="02000000000000000000" pitchFamily="2" charset="0"/>
                        <a:cs typeface="Roboto Black" panose="02000000000000000000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37746140"/>
                  </a:ext>
                </a:extLst>
              </a:tr>
              <a:tr h="2278513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Roboto Black" panose="02000000000000000000" pitchFamily="2" charset="0"/>
                          <a:ea typeface="Roboto Black" panose="02000000000000000000" pitchFamily="2" charset="0"/>
                          <a:cs typeface="Roboto Black" panose="02000000000000000000" pitchFamily="2" charset="0"/>
                        </a:rPr>
                        <a:t>build</a:t>
                      </a:r>
                      <a:endParaRPr lang="ru-RU" dirty="0">
                        <a:latin typeface="Roboto Black" panose="02000000000000000000" pitchFamily="2" charset="0"/>
                        <a:ea typeface="Roboto Black" panose="02000000000000000000" pitchFamily="2" charset="0"/>
                        <a:cs typeface="Roboto Black" panose="020000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0" i="1" kern="1200" dirty="0">
                          <a:solidFill>
                            <a:schemeClr val="tx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@angular-</a:t>
                      </a:r>
                      <a:r>
                        <a:rPr lang="en-US" sz="1800" b="0" i="1" kern="1200" dirty="0" err="1">
                          <a:solidFill>
                            <a:schemeClr val="tx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devkit</a:t>
                      </a:r>
                      <a:r>
                        <a:rPr lang="en-US" sz="1800" b="0" i="1" kern="1200" dirty="0">
                          <a:solidFill>
                            <a:schemeClr val="tx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/</a:t>
                      </a:r>
                      <a:r>
                        <a:rPr lang="en-US" sz="1800" b="0" i="1" kern="1200" dirty="0" err="1">
                          <a:solidFill>
                            <a:schemeClr val="tx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build-angular:</a:t>
                      </a:r>
                      <a:r>
                        <a:rPr lang="en-US" sz="1800" b="0" i="1" kern="1200" dirty="0" err="1">
                          <a:solidFill>
                            <a:srgbClr val="00B050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ng-packagr</a:t>
                      </a:r>
                      <a:endParaRPr lang="ru-RU" sz="1800" b="0" i="1" kern="1200" dirty="0">
                        <a:solidFill>
                          <a:srgbClr val="00B050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  <a:p>
                      <a:pPr algn="l"/>
                      <a:endParaRPr lang="ru-RU" sz="1800" b="0" i="1" kern="1200" dirty="0">
                        <a:solidFill>
                          <a:schemeClr val="tx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  <a:p>
                      <a:pPr algn="l"/>
                      <a:r>
                        <a:rPr lang="en-US" sz="1800" b="0" i="1" kern="1200" dirty="0">
                          <a:solidFill>
                            <a:schemeClr val="tx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@angular-</a:t>
                      </a:r>
                      <a:r>
                        <a:rPr lang="en-US" sz="1800" b="0" i="1" kern="1200" dirty="0" err="1">
                          <a:solidFill>
                            <a:schemeClr val="tx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devkit</a:t>
                      </a:r>
                      <a:r>
                        <a:rPr lang="en-US" sz="1800" b="0" i="1" kern="1200" dirty="0">
                          <a:solidFill>
                            <a:schemeClr val="tx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/</a:t>
                      </a:r>
                      <a:r>
                        <a:rPr lang="en-US" sz="1800" b="0" i="1" kern="1200" dirty="0" err="1">
                          <a:solidFill>
                            <a:schemeClr val="tx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build-angular:</a:t>
                      </a:r>
                      <a:r>
                        <a:rPr lang="en-US" sz="1800" b="0" i="1" kern="1200" dirty="0" err="1">
                          <a:solidFill>
                            <a:srgbClr val="00B050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browser</a:t>
                      </a:r>
                      <a:endParaRPr lang="ru-RU" i="1" dirty="0">
                        <a:solidFill>
                          <a:srgbClr val="00B050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0" i="1" kern="1200" dirty="0">
                          <a:solidFill>
                            <a:schemeClr val="tx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@angular-</a:t>
                      </a:r>
                      <a:r>
                        <a:rPr lang="en-US" sz="1800" b="0" i="1" kern="1200" dirty="0" err="1">
                          <a:solidFill>
                            <a:schemeClr val="tx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devkit</a:t>
                      </a:r>
                      <a:r>
                        <a:rPr lang="en-US" sz="1800" b="0" i="1" kern="1200" dirty="0">
                          <a:solidFill>
                            <a:schemeClr val="tx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/</a:t>
                      </a:r>
                      <a:r>
                        <a:rPr lang="en-US" sz="1800" b="0" i="1" kern="1200" dirty="0" err="1">
                          <a:solidFill>
                            <a:schemeClr val="tx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build-angular:</a:t>
                      </a:r>
                      <a:r>
                        <a:rPr lang="en-US" sz="1800" b="0" i="1" kern="1200" dirty="0" err="1">
                          <a:solidFill>
                            <a:srgbClr val="00B050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ng-packagr</a:t>
                      </a:r>
                      <a:endParaRPr lang="ru-RU" sz="1800" b="0" i="1" kern="1200" dirty="0">
                        <a:solidFill>
                          <a:srgbClr val="00B050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  <a:p>
                      <a:pPr algn="l"/>
                      <a:endParaRPr lang="ru-RU" sz="1800" b="0" i="1" kern="1200" dirty="0">
                        <a:solidFill>
                          <a:schemeClr val="tx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  <a:p>
                      <a:pPr algn="l"/>
                      <a:r>
                        <a:rPr lang="en-US" sz="1800" b="0" i="1" kern="1200" dirty="0">
                          <a:solidFill>
                            <a:schemeClr val="tx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@angular-</a:t>
                      </a:r>
                      <a:r>
                        <a:rPr lang="en-US" sz="1800" b="0" i="1" kern="1200" dirty="0" err="1">
                          <a:solidFill>
                            <a:schemeClr val="tx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devkit</a:t>
                      </a:r>
                      <a:r>
                        <a:rPr lang="en-US" sz="1800" b="0" i="1" kern="1200" dirty="0">
                          <a:solidFill>
                            <a:schemeClr val="tx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/</a:t>
                      </a:r>
                      <a:r>
                        <a:rPr lang="en-US" sz="1800" b="0" i="1" kern="1200" dirty="0" err="1">
                          <a:solidFill>
                            <a:schemeClr val="tx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build-angular:</a:t>
                      </a:r>
                      <a:r>
                        <a:rPr lang="en-US" sz="1800" b="0" i="1" kern="1200" dirty="0" err="1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browser</a:t>
                      </a:r>
                      <a:endParaRPr lang="en-US" sz="1800" b="0" i="1" kern="1200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  <a:p>
                      <a:pPr algn="l"/>
                      <a:endParaRPr lang="en-US" sz="1800" b="0" i="1" kern="1200" dirty="0">
                        <a:solidFill>
                          <a:schemeClr val="tx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  <a:p>
                      <a:pPr algn="l"/>
                      <a:r>
                        <a:rPr lang="en-US" sz="1800" b="0" i="1" kern="1200" dirty="0">
                          <a:solidFill>
                            <a:schemeClr val="tx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@angular-</a:t>
                      </a:r>
                      <a:r>
                        <a:rPr lang="en-US" sz="1800" b="0" i="1" kern="1200" dirty="0" err="1">
                          <a:solidFill>
                            <a:schemeClr val="tx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devkit</a:t>
                      </a:r>
                      <a:r>
                        <a:rPr lang="en-US" sz="1800" b="0" i="1" kern="1200" dirty="0">
                          <a:solidFill>
                            <a:schemeClr val="tx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/</a:t>
                      </a:r>
                      <a:r>
                        <a:rPr lang="en-US" sz="1800" b="0" i="1" kern="1200" dirty="0" err="1">
                          <a:solidFill>
                            <a:schemeClr val="tx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build-angular:</a:t>
                      </a:r>
                      <a:r>
                        <a:rPr lang="en-US" sz="1800" b="0" i="1" kern="1200" dirty="0" err="1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browser-esbuild</a:t>
                      </a:r>
                      <a:endParaRPr lang="en-US" sz="1800" b="0" i="1" kern="1200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  <a:p>
                      <a:pPr algn="l"/>
                      <a:endParaRPr lang="en-US" sz="1800" b="0" i="1" kern="1200" dirty="0">
                        <a:solidFill>
                          <a:schemeClr val="tx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  <a:p>
                      <a:pPr algn="l"/>
                      <a:r>
                        <a:rPr lang="en-US" sz="1800" b="0" i="1" kern="1200" dirty="0">
                          <a:solidFill>
                            <a:schemeClr val="tx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@angular-</a:t>
                      </a:r>
                      <a:r>
                        <a:rPr lang="en-US" sz="1800" b="0" i="1" kern="1200" dirty="0" err="1">
                          <a:solidFill>
                            <a:schemeClr val="tx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devkit</a:t>
                      </a:r>
                      <a:r>
                        <a:rPr lang="en-US" sz="1800" b="0" i="1" kern="1200" dirty="0">
                          <a:solidFill>
                            <a:schemeClr val="tx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/</a:t>
                      </a:r>
                      <a:r>
                        <a:rPr lang="en-US" sz="1800" b="0" i="1" kern="1200" dirty="0" err="1">
                          <a:solidFill>
                            <a:schemeClr val="tx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build-angular:</a:t>
                      </a:r>
                      <a:r>
                        <a:rPr lang="en-US" sz="1800" b="0" i="1" kern="1200" dirty="0" err="1">
                          <a:solidFill>
                            <a:srgbClr val="00B050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application</a:t>
                      </a:r>
                      <a:endParaRPr lang="ru-RU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3164317"/>
                  </a:ext>
                </a:extLst>
              </a:tr>
              <a:tr h="137726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Roboto Black" panose="02000000000000000000" pitchFamily="2" charset="0"/>
                          <a:ea typeface="Roboto Black" panose="02000000000000000000" pitchFamily="2" charset="0"/>
                          <a:cs typeface="Roboto Black" panose="02000000000000000000" pitchFamily="2" charset="0"/>
                        </a:rPr>
                        <a:t>serve</a:t>
                      </a:r>
                      <a:endParaRPr lang="ru-RU" dirty="0">
                        <a:latin typeface="Roboto Black" panose="02000000000000000000" pitchFamily="2" charset="0"/>
                        <a:ea typeface="Roboto Black" panose="02000000000000000000" pitchFamily="2" charset="0"/>
                        <a:cs typeface="Roboto Black" panose="020000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0" i="1" kern="1200" dirty="0">
                          <a:solidFill>
                            <a:schemeClr val="tx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@angular-</a:t>
                      </a:r>
                      <a:r>
                        <a:rPr lang="en-US" sz="1800" b="0" i="1" kern="1200" dirty="0" err="1">
                          <a:solidFill>
                            <a:schemeClr val="tx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devkit</a:t>
                      </a:r>
                      <a:r>
                        <a:rPr lang="en-US" sz="1800" b="0" i="1" kern="1200" dirty="0">
                          <a:solidFill>
                            <a:schemeClr val="tx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/</a:t>
                      </a:r>
                      <a:r>
                        <a:rPr lang="en-US" sz="1800" b="0" i="1" kern="1200" dirty="0" err="1">
                          <a:solidFill>
                            <a:schemeClr val="tx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build-angular:</a:t>
                      </a:r>
                      <a:r>
                        <a:rPr lang="en-US" sz="1800" b="0" i="1" kern="1200" dirty="0" err="1">
                          <a:solidFill>
                            <a:srgbClr val="00B050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dev-server</a:t>
                      </a:r>
                      <a:endParaRPr lang="ru-RU" i="1" dirty="0">
                        <a:solidFill>
                          <a:srgbClr val="00B050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b="0" i="1" kern="1200" dirty="0">
                          <a:solidFill>
                            <a:schemeClr val="tx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@angular-</a:t>
                      </a:r>
                      <a:r>
                        <a:rPr lang="en-US" sz="1800" b="0" i="1" kern="1200" dirty="0" err="1">
                          <a:solidFill>
                            <a:schemeClr val="tx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devkit</a:t>
                      </a:r>
                      <a:r>
                        <a:rPr lang="en-US" sz="1800" b="0" i="1" kern="1200" dirty="0">
                          <a:solidFill>
                            <a:schemeClr val="tx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/</a:t>
                      </a:r>
                      <a:r>
                        <a:rPr lang="en-US" sz="1800" b="0" i="1" kern="1200" dirty="0" err="1">
                          <a:solidFill>
                            <a:schemeClr val="tx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build-angular:</a:t>
                      </a:r>
                      <a:r>
                        <a:rPr lang="en-US" sz="1800" b="0" i="1" kern="1200" dirty="0" err="1">
                          <a:solidFill>
                            <a:srgbClr val="00B050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dev-server</a:t>
                      </a:r>
                      <a:endParaRPr lang="ru-RU" i="1" dirty="0">
                        <a:solidFill>
                          <a:srgbClr val="00B050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65325881"/>
                  </a:ext>
                </a:extLst>
              </a:tr>
            </a:tbl>
          </a:graphicData>
        </a:graphic>
      </p:graphicFrame>
      <p:pic>
        <p:nvPicPr>
          <p:cNvPr id="6" name="Рисунок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063" y="244054"/>
            <a:ext cx="623746" cy="623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70501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AutoShape 4" descr="Examples of the logo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8" name="TextBox 7"/>
          <p:cNvSpPr txBox="1"/>
          <p:nvPr/>
        </p:nvSpPr>
        <p:spPr>
          <a:xfrm>
            <a:off x="1159633" y="3698549"/>
            <a:ext cx="924273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 err="1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Webpack</a:t>
            </a:r>
            <a:r>
              <a:rPr lang="en-US" sz="44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 Modules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9633" y="4563890"/>
            <a:ext cx="417118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i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ECMAScript modules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i="1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CommonJS</a:t>
            </a:r>
            <a:r>
              <a:rPr lang="en-US" sz="1600" b="1" i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modules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i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AMD modules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i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Assets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i="1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WebAssembly</a:t>
            </a:r>
            <a:r>
              <a:rPr lang="en-US" sz="1600" b="1" i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modules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11678" y="5135991"/>
            <a:ext cx="417118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i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По сути, для </a:t>
            </a:r>
            <a:r>
              <a:rPr lang="ru-RU" sz="2000" i="1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вебпака</a:t>
            </a:r>
            <a:r>
              <a:rPr lang="ru-RU" sz="2000" i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модулем является любой файл.</a:t>
            </a:r>
            <a:endParaRPr lang="en-US" sz="2000" i="1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pic>
        <p:nvPicPr>
          <p:cNvPr id="9" name="Picture 2" descr="icon example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75" y="3697393"/>
            <a:ext cx="662770" cy="7499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/>
          <p:cNvSpPr txBox="1"/>
          <p:nvPr/>
        </p:nvSpPr>
        <p:spPr>
          <a:xfrm>
            <a:off x="1088801" y="160338"/>
            <a:ext cx="1013138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Dependency Graph</a:t>
            </a:r>
          </a:p>
        </p:txBody>
      </p:sp>
      <p:pic>
        <p:nvPicPr>
          <p:cNvPr id="14" name="Picture 2" descr="icon example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75" y="160338"/>
            <a:ext cx="662770" cy="7499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Рисунок 14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874"/>
          <a:stretch/>
        </p:blipFill>
        <p:spPr>
          <a:xfrm>
            <a:off x="1159633" y="1062170"/>
            <a:ext cx="2912337" cy="2391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39950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5" grpId="0"/>
      <p:bldP spid="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AutoShape 4" descr="Examples of the logo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8" name="TextBox 7"/>
          <p:cNvSpPr txBox="1"/>
          <p:nvPr/>
        </p:nvSpPr>
        <p:spPr>
          <a:xfrm>
            <a:off x="1127589" y="303664"/>
            <a:ext cx="1023801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 err="1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entryPoint</a:t>
            </a:r>
            <a:r>
              <a:rPr lang="en-US" sz="44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 (</a:t>
            </a:r>
            <a:r>
              <a:rPr lang="ru-RU" sz="44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точка входа)</a:t>
            </a:r>
            <a:endParaRPr lang="en-US" sz="4400" dirty="0">
              <a:latin typeface="Roboto Black" panose="02000000000000000000" pitchFamily="2" charset="0"/>
              <a:ea typeface="Roboto Black" panose="02000000000000000000" pitchFamily="2" charset="0"/>
              <a:cs typeface="Roboto Black" panose="02000000000000000000" pitchFamily="2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1127589" y="1433769"/>
            <a:ext cx="658685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Модуль, с которого </a:t>
            </a:r>
            <a:r>
              <a:rPr lang="ru-RU" sz="20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вебпак</a:t>
            </a:r>
            <a:r>
              <a:rPr lang="ru-RU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начинает собирать </a:t>
            </a:r>
            <a:r>
              <a:rPr lang="ru-RU" sz="20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dependency</a:t>
            </a:r>
            <a:r>
              <a:rPr lang="ru-RU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ru-RU" sz="20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graph</a:t>
            </a:r>
            <a:r>
              <a:rPr lang="ru-RU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.</a:t>
            </a:r>
            <a:r>
              <a:rPr lang="en-US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ru-RU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Можно указать несколько штук.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589" y="3169345"/>
            <a:ext cx="829399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output</a:t>
            </a:r>
          </a:p>
        </p:txBody>
      </p:sp>
      <p:pic>
        <p:nvPicPr>
          <p:cNvPr id="9" name="Picture 2" descr="icon example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313" y="323128"/>
            <a:ext cx="662770" cy="7499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icon example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313" y="3188809"/>
            <a:ext cx="662770" cy="7499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Прямоугольник 10"/>
          <p:cNvSpPr/>
          <p:nvPr/>
        </p:nvSpPr>
        <p:spPr>
          <a:xfrm>
            <a:off x="1127589" y="4299450"/>
            <a:ext cx="658685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Конфигурация для директории в которую помещается </a:t>
            </a:r>
            <a:r>
              <a:rPr lang="ru-RU" sz="20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бандл</a:t>
            </a:r>
            <a:r>
              <a:rPr lang="ru-RU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179854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AutoShape 4" descr="Examples of the logo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8" name="TextBox 7"/>
          <p:cNvSpPr txBox="1"/>
          <p:nvPr/>
        </p:nvSpPr>
        <p:spPr>
          <a:xfrm>
            <a:off x="1294327" y="323128"/>
            <a:ext cx="931357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Loaders (</a:t>
            </a:r>
            <a:r>
              <a:rPr lang="ru-RU" sz="44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загрузчики)</a:t>
            </a:r>
            <a:endParaRPr lang="en-US" sz="4400" dirty="0">
              <a:latin typeface="Roboto Black" panose="02000000000000000000" pitchFamily="2" charset="0"/>
              <a:ea typeface="Roboto Black" panose="02000000000000000000" pitchFamily="2" charset="0"/>
              <a:cs typeface="Roboto Black" panose="02000000000000000000" pitchFamily="2" charset="0"/>
            </a:endParaRPr>
          </a:p>
        </p:txBody>
      </p:sp>
      <p:pic>
        <p:nvPicPr>
          <p:cNvPr id="4" name="Picture 2" descr="icon example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313" y="323128"/>
            <a:ext cx="662770" cy="7499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Прямоугольник 1"/>
          <p:cNvSpPr/>
          <p:nvPr/>
        </p:nvSpPr>
        <p:spPr>
          <a:xfrm>
            <a:off x="1294326" y="1396112"/>
            <a:ext cx="6413679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Позволяют преобразовать файлы в </a:t>
            </a:r>
            <a:r>
              <a:rPr lang="ru-RU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вебпак</a:t>
            </a:r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модули. Из коробки </a:t>
            </a:r>
            <a:r>
              <a:rPr lang="ru-RU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вебпак</a:t>
            </a:r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поддерживает только </a:t>
            </a:r>
            <a:r>
              <a:rPr lang="ru-RU" b="1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js</a:t>
            </a:r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и </a:t>
            </a:r>
            <a:r>
              <a:rPr lang="ru-RU" b="1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json</a:t>
            </a:r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файлы. Например, для </a:t>
            </a:r>
            <a:r>
              <a:rPr lang="en-US" b="1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scss</a:t>
            </a:r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надо добавить определенный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набор </a:t>
            </a:r>
            <a:r>
              <a:rPr lang="ru-RU" b="1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loader</a:t>
            </a:r>
            <a:r>
              <a:rPr lang="ru-RU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-ов</a:t>
            </a:r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.</a:t>
            </a:r>
          </a:p>
        </p:txBody>
      </p:sp>
      <p:sp>
        <p:nvSpPr>
          <p:cNvPr id="3" name="Скругленный прямоугольник 2"/>
          <p:cNvSpPr/>
          <p:nvPr/>
        </p:nvSpPr>
        <p:spPr>
          <a:xfrm>
            <a:off x="1294326" y="3110246"/>
            <a:ext cx="1796603" cy="920839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/>
          <p:cNvSpPr txBox="1"/>
          <p:nvPr/>
        </p:nvSpPr>
        <p:spPr>
          <a:xfrm>
            <a:off x="1463360" y="3385999"/>
            <a:ext cx="16839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Input (source)</a:t>
            </a:r>
            <a:endParaRPr lang="ru-RU" b="1" dirty="0"/>
          </a:p>
        </p:txBody>
      </p:sp>
      <p:sp>
        <p:nvSpPr>
          <p:cNvPr id="9" name="Скругленный прямоугольник 8"/>
          <p:cNvSpPr/>
          <p:nvPr/>
        </p:nvSpPr>
        <p:spPr>
          <a:xfrm>
            <a:off x="4589170" y="3110248"/>
            <a:ext cx="1796603" cy="920839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3" name="Соединительная линия уступом 12"/>
          <p:cNvCxnSpPr>
            <a:endCxn id="9" idx="1"/>
          </p:cNvCxnSpPr>
          <p:nvPr/>
        </p:nvCxnSpPr>
        <p:spPr>
          <a:xfrm>
            <a:off x="2994336" y="3570666"/>
            <a:ext cx="1594834" cy="2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645514" y="3247501"/>
            <a:ext cx="16839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Loader</a:t>
            </a:r>
            <a:br>
              <a:rPr lang="en-US" b="1" dirty="0"/>
            </a:br>
            <a:r>
              <a:rPr lang="en-US" b="1" dirty="0"/>
              <a:t>(</a:t>
            </a:r>
            <a:r>
              <a:rPr lang="en-US" b="1" dirty="0" err="1"/>
              <a:t>js</a:t>
            </a:r>
            <a:r>
              <a:rPr lang="en-US" b="1" dirty="0"/>
              <a:t> function)</a:t>
            </a:r>
            <a:endParaRPr lang="ru-RU" b="1" dirty="0"/>
          </a:p>
        </p:txBody>
      </p:sp>
      <p:sp>
        <p:nvSpPr>
          <p:cNvPr id="11" name="Скругленный прямоугольник 10"/>
          <p:cNvSpPr/>
          <p:nvPr/>
        </p:nvSpPr>
        <p:spPr>
          <a:xfrm>
            <a:off x="7827670" y="3110246"/>
            <a:ext cx="1796603" cy="920839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TextBox 11"/>
          <p:cNvSpPr txBox="1"/>
          <p:nvPr/>
        </p:nvSpPr>
        <p:spPr>
          <a:xfrm>
            <a:off x="7940360" y="3385999"/>
            <a:ext cx="16839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Output (source)</a:t>
            </a:r>
            <a:endParaRPr lang="ru-RU" b="1" dirty="0"/>
          </a:p>
        </p:txBody>
      </p:sp>
      <p:cxnSp>
        <p:nvCxnSpPr>
          <p:cNvPr id="15" name="Прямая со стрелкой 14"/>
          <p:cNvCxnSpPr>
            <a:stCxn id="10" idx="3"/>
            <a:endCxn id="11" idx="1"/>
          </p:cNvCxnSpPr>
          <p:nvPr/>
        </p:nvCxnSpPr>
        <p:spPr>
          <a:xfrm flipV="1">
            <a:off x="6329427" y="3570666"/>
            <a:ext cx="1498243" cy="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242811" y="4552682"/>
            <a:ext cx="325835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Css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-loader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Style-loader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Sass-loader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Svg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-loader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8729940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/>
      <p:bldP spid="9" grpId="0" animBg="1"/>
      <p:bldP spid="10" grpId="0"/>
      <p:bldP spid="11" grpId="0" animBg="1"/>
      <p:bldP spid="12" grpId="0"/>
      <p:bldP spid="1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AutoShape 4" descr="Examples of the logo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8" name="TextBox 7"/>
          <p:cNvSpPr txBox="1"/>
          <p:nvPr/>
        </p:nvSpPr>
        <p:spPr>
          <a:xfrm>
            <a:off x="1204173" y="303664"/>
            <a:ext cx="928137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rules</a:t>
            </a:r>
            <a:r>
              <a:rPr lang="ru-RU" sz="44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 (правила)</a:t>
            </a:r>
            <a:endParaRPr lang="en-US" sz="4400" dirty="0">
              <a:latin typeface="Roboto Black" panose="02000000000000000000" pitchFamily="2" charset="0"/>
              <a:ea typeface="Roboto Black" panose="02000000000000000000" pitchFamily="2" charset="0"/>
              <a:cs typeface="Roboto Black" panose="02000000000000000000" pitchFamily="2" charset="0"/>
            </a:endParaRPr>
          </a:p>
        </p:txBody>
      </p:sp>
      <p:pic>
        <p:nvPicPr>
          <p:cNvPr id="4" name="Picture 2" descr="icon example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313" y="323128"/>
            <a:ext cx="662770" cy="7499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Прямоугольник 4"/>
          <p:cNvSpPr/>
          <p:nvPr/>
        </p:nvSpPr>
        <p:spPr>
          <a:xfrm>
            <a:off x="1204173" y="1286642"/>
            <a:ext cx="641367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Определяют какой набор</a:t>
            </a:r>
            <a:r>
              <a:rPr lang="ru-RU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loader-</a:t>
            </a:r>
            <a:r>
              <a:rPr lang="ru-RU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ов</a:t>
            </a:r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применять для того или иного типа файлов.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 rotWithShape="1">
          <a:blip r:embed="rId3"/>
          <a:srcRect l="7660" t="13215" b="12073"/>
          <a:stretch/>
        </p:blipFill>
        <p:spPr>
          <a:xfrm>
            <a:off x="1204173" y="2266681"/>
            <a:ext cx="7048483" cy="3251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86190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AutoShape 4" descr="Examples of the logo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4" name="TextBox 3"/>
          <p:cNvSpPr txBox="1"/>
          <p:nvPr/>
        </p:nvSpPr>
        <p:spPr>
          <a:xfrm>
            <a:off x="1204173" y="303664"/>
            <a:ext cx="928137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plugins</a:t>
            </a:r>
          </a:p>
        </p:txBody>
      </p:sp>
      <p:pic>
        <p:nvPicPr>
          <p:cNvPr id="5" name="Picture 2" descr="icon example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313" y="323128"/>
            <a:ext cx="662770" cy="7499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Прямоугольник 5"/>
          <p:cNvSpPr/>
          <p:nvPr/>
        </p:nvSpPr>
        <p:spPr>
          <a:xfrm>
            <a:off x="1204173" y="1254445"/>
            <a:ext cx="641367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Инструменты, которые </a:t>
            </a:r>
            <a:r>
              <a:rPr lang="ru-RU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добавляют дополнительную функциональность</a:t>
            </a:r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 в процесс сборки.</a:t>
            </a: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3910774"/>
              </p:ext>
            </p:extLst>
          </p:nvPr>
        </p:nvGraphicFramePr>
        <p:xfrm>
          <a:off x="895083" y="2361384"/>
          <a:ext cx="10515600" cy="2987040"/>
        </p:xfrm>
        <a:graphic>
          <a:graphicData uri="http://schemas.openxmlformats.org/drawingml/2006/table">
            <a:tbl>
              <a:tblPr>
                <a:tableStyleId>{D7AC3CCA-C797-4891-BE02-D94E43425B78}</a:tableStyleId>
              </a:tblPr>
              <a:tblGrid>
                <a:gridCol w="5473874">
                  <a:extLst>
                    <a:ext uri="{9D8B030D-6E8A-4147-A177-3AD203B41FA5}">
                      <a16:colId xmlns:a16="http://schemas.microsoft.com/office/drawing/2014/main" val="1602593761"/>
                    </a:ext>
                  </a:extLst>
                </a:gridCol>
                <a:gridCol w="5041726">
                  <a:extLst>
                    <a:ext uri="{9D8B030D-6E8A-4147-A177-3AD203B41FA5}">
                      <a16:colId xmlns:a16="http://schemas.microsoft.com/office/drawing/2014/main" val="183544964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ru-RU" b="1" dirty="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Плагин</a:t>
                      </a:r>
                    </a:p>
                  </a:txBody>
                  <a:tcPr marR="762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b="1" dirty="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Назначение</a:t>
                      </a: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355717176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HtmlWebpackPlugin</a:t>
                      </a:r>
                    </a:p>
                  </a:txBody>
                  <a:tcPr marR="76200" marT="76200" marB="76200" anchor="ctr"/>
                </a:tc>
                <a:tc>
                  <a:txBody>
                    <a:bodyPr/>
                    <a:lstStyle/>
                    <a:p>
                      <a:r>
                        <a:rPr lang="ru-RU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Автоматически создает </a:t>
                      </a:r>
                      <a:r>
                        <a:rPr lang="en-US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index.html</a:t>
                      </a: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352029150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 err="1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MiniCssExtractPlugin</a:t>
                      </a:r>
                      <a:endParaRPr lang="en-US" dirty="0"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R="76200" marT="76200" marB="76200" anchor="ctr"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Извлекает CSS в отдельный файл</a:t>
                      </a: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26914176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CleanWebpackPlugin</a:t>
                      </a:r>
                    </a:p>
                  </a:txBody>
                  <a:tcPr marR="76200" marT="76200" marB="76200" anchor="ctr"/>
                </a:tc>
                <a:tc>
                  <a:txBody>
                    <a:bodyPr/>
                    <a:lstStyle/>
                    <a:p>
                      <a:r>
                        <a:rPr lang="ru-RU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Очищает папку dist перед сборкой</a:t>
                      </a: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207614629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 err="1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BundleAnalyzerPlugin</a:t>
                      </a:r>
                      <a:endParaRPr lang="en-US" dirty="0"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R="76200" marT="76200" marB="76200" anchor="ctr"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Визуализирует размер </a:t>
                      </a:r>
                      <a:r>
                        <a:rPr lang="ru-RU" dirty="0" err="1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бандла</a:t>
                      </a:r>
                      <a:endParaRPr lang="ru-RU" dirty="0"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355964810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ImageMinimizerPlugin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 </a:t>
                      </a:r>
                      <a:endParaRPr lang="en-US" b="0" dirty="0"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R="76200" marT="76200" marB="76200" anchor="ctr"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Сжимает изображения без потерь</a:t>
                      </a:r>
                      <a:endParaRPr lang="ru-RU" dirty="0"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285540772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SplitChunksPlugin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 </a:t>
                      </a:r>
                      <a:endParaRPr lang="en-US" dirty="0"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R="76200" marT="76200" marB="76200" anchor="ctr"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Разделение кода на </a:t>
                      </a:r>
                      <a:r>
                        <a:rPr lang="ru-RU" sz="1800" b="0" i="0" kern="1200" dirty="0" err="1">
                          <a:solidFill>
                            <a:schemeClr val="dk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чанки</a:t>
                      </a: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 (</a:t>
                      </a:r>
                      <a:r>
                        <a:rPr lang="ru-RU" sz="1800" b="0" i="0" kern="1200" dirty="0" err="1">
                          <a:solidFill>
                            <a:schemeClr val="dk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vendor</a:t>
                      </a: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, </a:t>
                      </a:r>
                      <a:r>
                        <a:rPr lang="ru-RU" sz="1800" b="0" i="0" kern="1200" dirty="0" err="1">
                          <a:solidFill>
                            <a:schemeClr val="dk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async</a:t>
                      </a: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)</a:t>
                      </a:r>
                      <a:endParaRPr lang="ru-RU" dirty="0"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34855291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534588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AutoShape 4" descr="Examples of the logo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4" name="TextBox 3"/>
          <p:cNvSpPr txBox="1"/>
          <p:nvPr/>
        </p:nvSpPr>
        <p:spPr>
          <a:xfrm>
            <a:off x="1204173" y="303664"/>
            <a:ext cx="928137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Vite.js</a:t>
            </a: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575" y="372217"/>
            <a:ext cx="700888" cy="700888"/>
          </a:xfrm>
          <a:prstGeom prst="rect">
            <a:avLst/>
          </a:prstGeom>
        </p:spPr>
      </p:pic>
      <p:sp>
        <p:nvSpPr>
          <p:cNvPr id="2" name="Прямоугольник 1"/>
          <p:cNvSpPr/>
          <p:nvPr/>
        </p:nvSpPr>
        <p:spPr>
          <a:xfrm>
            <a:off x="1204173" y="1364019"/>
            <a:ext cx="61747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A8B1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/</a:t>
            </a:r>
            <a:r>
              <a:rPr lang="en-US" dirty="0" err="1">
                <a:solidFill>
                  <a:srgbClr val="A8B1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vit</a:t>
            </a:r>
            <a:r>
              <a:rPr lang="en-US" dirty="0">
                <a:solidFill>
                  <a:srgbClr val="A8B1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/</a:t>
            </a:r>
            <a:endParaRPr lang="ru-RU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1923243" y="1364019"/>
            <a:ext cx="317747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solidFill>
                  <a:schemeClr val="bg1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С французского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“</a:t>
            </a:r>
            <a:r>
              <a:rPr lang="ru-RU" dirty="0">
                <a:solidFill>
                  <a:schemeClr val="bg1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быстрый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”</a:t>
            </a:r>
            <a:r>
              <a:rPr lang="ru-RU" dirty="0">
                <a:solidFill>
                  <a:schemeClr val="bg1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.</a:t>
            </a:r>
          </a:p>
        </p:txBody>
      </p:sp>
      <p:sp>
        <p:nvSpPr>
          <p:cNvPr id="10" name="Прямоугольник 9"/>
          <p:cNvSpPr/>
          <p:nvPr/>
        </p:nvSpPr>
        <p:spPr>
          <a:xfrm>
            <a:off x="1204173" y="2024265"/>
            <a:ext cx="50273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В 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production </a:t>
            </a:r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– </a:t>
            </a:r>
            <a:r>
              <a:rPr lang="en-US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rollup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</a:t>
            </a:r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в 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development – </a:t>
            </a:r>
            <a:r>
              <a:rPr lang="en-US" b="1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esbuild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.</a:t>
            </a:r>
            <a:endParaRPr lang="ru-RU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BC5AA1F-BDCF-490E-A054-CCF179C42D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463" y="2873992"/>
            <a:ext cx="5057402" cy="2772206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4AE463B-B125-4BA8-9E85-C08D1EDE72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8137" y="2873993"/>
            <a:ext cx="4925087" cy="2772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71691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AutoShape 4" descr="Examples of the logo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4" name="TextBox 3"/>
          <p:cNvSpPr txBox="1"/>
          <p:nvPr/>
        </p:nvSpPr>
        <p:spPr>
          <a:xfrm>
            <a:off x="1204173" y="303664"/>
            <a:ext cx="928137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+/-</a:t>
            </a: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575" y="372217"/>
            <a:ext cx="700888" cy="70088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3DBAA06-3B13-4C0B-8AAB-7627C6BCD19E}"/>
              </a:ext>
            </a:extLst>
          </p:cNvPr>
          <p:cNvSpPr txBox="1"/>
          <p:nvPr/>
        </p:nvSpPr>
        <p:spPr>
          <a:xfrm>
            <a:off x="856463" y="1369628"/>
            <a:ext cx="8880860" cy="6124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ru-RU" sz="2000" dirty="0">
                <a:latin typeface="Roboto"/>
              </a:rPr>
              <a:t>Существенно выше скорость запуска </a:t>
            </a:r>
            <a:r>
              <a:rPr lang="en-US" sz="2000" dirty="0">
                <a:latin typeface="Roboto"/>
              </a:rPr>
              <a:t>dev</a:t>
            </a:r>
            <a:r>
              <a:rPr lang="ru-RU" sz="2000" dirty="0">
                <a:latin typeface="Roboto"/>
              </a:rPr>
              <a:t> сервера</a:t>
            </a:r>
            <a:r>
              <a:rPr lang="en-US" sz="2000" dirty="0">
                <a:latin typeface="Roboto"/>
              </a:rPr>
              <a:t> </a:t>
            </a:r>
            <a:r>
              <a:rPr lang="ru-RU" sz="2000" dirty="0">
                <a:latin typeface="Roboto"/>
              </a:rPr>
              <a:t>и </a:t>
            </a:r>
            <a:r>
              <a:rPr lang="en-US" sz="2000" dirty="0">
                <a:latin typeface="Roboto"/>
              </a:rPr>
              <a:t>HMR</a:t>
            </a:r>
            <a:endParaRPr lang="ru-RU" sz="2000" dirty="0">
              <a:latin typeface="Roboto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FFE039D-FD41-4374-ABE8-99DE451F0420}"/>
              </a:ext>
            </a:extLst>
          </p:cNvPr>
          <p:cNvSpPr txBox="1"/>
          <p:nvPr/>
        </p:nvSpPr>
        <p:spPr>
          <a:xfrm>
            <a:off x="856463" y="1982040"/>
            <a:ext cx="8880860" cy="6124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ru-RU" sz="2000" dirty="0">
                <a:latin typeface="Roboto"/>
              </a:rPr>
              <a:t>Конфигурируется проще чем </a:t>
            </a:r>
            <a:r>
              <a:rPr lang="en-US" sz="2000" dirty="0">
                <a:latin typeface="Roboto"/>
              </a:rPr>
              <a:t>Webpack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BC3E656-03C0-4EDB-801A-5E37828531DD}"/>
              </a:ext>
            </a:extLst>
          </p:cNvPr>
          <p:cNvSpPr txBox="1"/>
          <p:nvPr/>
        </p:nvSpPr>
        <p:spPr>
          <a:xfrm>
            <a:off x="856463" y="2594452"/>
            <a:ext cx="8880860" cy="1227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sz="2000" dirty="0">
                <a:latin typeface="Roboto"/>
              </a:rPr>
              <a:t>    </a:t>
            </a:r>
            <a:r>
              <a:rPr lang="ru-RU" sz="2000" dirty="0">
                <a:latin typeface="Roboto"/>
              </a:rPr>
              <a:t>Из-за использования разных инструментов для сборки может в </a:t>
            </a:r>
            <a:r>
              <a:rPr lang="ru-RU" sz="2000" dirty="0" err="1">
                <a:latin typeface="Roboto"/>
              </a:rPr>
              <a:t>проде</a:t>
            </a:r>
            <a:r>
              <a:rPr lang="ru-RU" sz="2000" dirty="0">
                <a:latin typeface="Roboto"/>
              </a:rPr>
              <a:t> </a:t>
            </a:r>
            <a:r>
              <a:rPr lang="en-US" sz="2000" dirty="0">
                <a:latin typeface="Roboto"/>
              </a:rPr>
              <a:t>   </a:t>
            </a:r>
            <a:r>
              <a:rPr lang="ru-RU" sz="2000" dirty="0">
                <a:latin typeface="Roboto"/>
              </a:rPr>
              <a:t>выскочить ошибка которой в </a:t>
            </a:r>
            <a:r>
              <a:rPr lang="ru-RU" sz="2000" dirty="0" err="1">
                <a:latin typeface="Roboto"/>
              </a:rPr>
              <a:t>dev</a:t>
            </a:r>
            <a:r>
              <a:rPr lang="ru-RU" sz="2000" dirty="0">
                <a:latin typeface="Roboto"/>
              </a:rPr>
              <a:t> режиме не было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0804B9A-F57F-48D2-A1F6-C8C6E9749FD3}"/>
              </a:ext>
            </a:extLst>
          </p:cNvPr>
          <p:cNvSpPr txBox="1"/>
          <p:nvPr/>
        </p:nvSpPr>
        <p:spPr>
          <a:xfrm>
            <a:off x="856463" y="3822417"/>
            <a:ext cx="8880860" cy="1227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sz="2000" dirty="0">
                <a:latin typeface="Roboto"/>
              </a:rPr>
              <a:t>    </a:t>
            </a:r>
            <a:r>
              <a:rPr lang="ru-RU" sz="2000" dirty="0">
                <a:latin typeface="Roboto"/>
              </a:rPr>
              <a:t>Из-за того что был выпущен не так давно может быть сложно узнать причины ошибок</a:t>
            </a: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E9921338-2D04-4591-AF11-8778537282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547" y="1572418"/>
            <a:ext cx="390626" cy="390626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39175467-7C30-4193-B7FE-787506EBE9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547" y="2165834"/>
            <a:ext cx="390626" cy="390626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AA774186-8F7A-4EC0-A6C0-5438EB7707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547" y="2816238"/>
            <a:ext cx="390626" cy="390626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0F22A740-2627-4E55-9221-F992A037C5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547" y="4045773"/>
            <a:ext cx="390626" cy="390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57488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/>
      <p:bldP spid="14" grpId="0"/>
      <p:bldP spid="15" grpId="0"/>
    </p:bld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3194</TotalTime>
  <Words>325</Words>
  <Application>Microsoft Office PowerPoint</Application>
  <PresentationFormat>Широкоэкранный</PresentationFormat>
  <Paragraphs>92</Paragraphs>
  <Slides>14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20" baseType="lpstr">
      <vt:lpstr>Arial</vt:lpstr>
      <vt:lpstr>Calibri</vt:lpstr>
      <vt:lpstr>Calibri Light</vt:lpstr>
      <vt:lpstr>Roboto</vt:lpstr>
      <vt:lpstr>Roboto Black</vt:lpstr>
      <vt:lpstr>Тема Office</vt:lpstr>
      <vt:lpstr>Сборка Angular приложения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SPecialiST RePack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Сборка Angular приложения</dc:title>
  <dc:creator>mi</dc:creator>
  <cp:lastModifiedBy>mi</cp:lastModifiedBy>
  <cp:revision>80</cp:revision>
  <dcterms:created xsi:type="dcterms:W3CDTF">2025-04-12T10:51:23Z</dcterms:created>
  <dcterms:modified xsi:type="dcterms:W3CDTF">2025-05-26T12:08:46Z</dcterms:modified>
</cp:coreProperties>
</file>